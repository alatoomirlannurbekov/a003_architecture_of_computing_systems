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Instrument Sans"/>
      <p:regular r:id="rId32"/>
      <p:bold r:id="rId33"/>
      <p:italic r:id="rId34"/>
      <p:boldItalic r:id="rId35"/>
    </p:embeddedFont>
    <p:embeddedFont>
      <p:font typeface="Poppins Medium"/>
      <p:regular r:id="rId36"/>
      <p:bold r:id="rId37"/>
      <p:italic r:id="rId38"/>
      <p:boldItalic r:id="rId39"/>
    </p:embeddedFont>
    <p:embeddedFont>
      <p:font typeface="Poppins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iUV9Rm2cvvusGHb09h90GRPgwf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regular.fntdata"/><Relationship Id="rId42" Type="http://schemas.openxmlformats.org/officeDocument/2006/relationships/font" Target="fonts/PoppinsSemiBold-italic.fntdata"/><Relationship Id="rId41" Type="http://schemas.openxmlformats.org/officeDocument/2006/relationships/font" Target="fonts/PoppinsSemiBold-bold.fntdata"/><Relationship Id="rId44" Type="http://customschemas.google.com/relationships/presentationmetadata" Target="metadata"/><Relationship Id="rId43" Type="http://schemas.openxmlformats.org/officeDocument/2006/relationships/font" Target="fonts/Poppi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33" Type="http://schemas.openxmlformats.org/officeDocument/2006/relationships/font" Target="fonts/InstrumentSans-bold.fntdata"/><Relationship Id="rId32" Type="http://schemas.openxmlformats.org/officeDocument/2006/relationships/font" Target="fonts/InstrumentSans-regular.fntdata"/><Relationship Id="rId35" Type="http://schemas.openxmlformats.org/officeDocument/2006/relationships/font" Target="fonts/InstrumentSans-boldItalic.fntdata"/><Relationship Id="rId34" Type="http://schemas.openxmlformats.org/officeDocument/2006/relationships/font" Target="fonts/InstrumentSans-italic.fntdata"/><Relationship Id="rId37" Type="http://schemas.openxmlformats.org/officeDocument/2006/relationships/font" Target="fonts/PoppinsMedium-bold.fntdata"/><Relationship Id="rId36" Type="http://schemas.openxmlformats.org/officeDocument/2006/relationships/font" Target="fonts/PoppinsMedium-regular.fntdata"/><Relationship Id="rId39" Type="http://schemas.openxmlformats.org/officeDocument/2006/relationships/font" Target="fonts/PoppinsMedium-boldItalic.fntdata"/><Relationship Id="rId38" Type="http://schemas.openxmlformats.org/officeDocument/2006/relationships/font" Target="fonts/PoppinsMedium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29" Type="http://schemas.openxmlformats.org/officeDocument/2006/relationships/font" Target="fonts/Poppi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9bcda7db66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9bcda7db66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2fbfe97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a2fbfe97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2fbfe97f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a2fbfe97f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2fbfe97f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a2fbfe97f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2fbfe97f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a2fbfe97f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2fbfe97f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a2fbfe97f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2fbfe97f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a2fbfe97f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2fbfe97f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a2fbfe97f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a2fbfe97f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a2fbfe97f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a561712f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aa561712f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a56171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aa56171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2fbfe97f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a2fbfe97f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2fbfe97f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a2fbfe97f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a561712f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aa561712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a561712f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aa561712f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2fbfe97f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3a2fbfe97f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2fbfe97f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a2fbfe97f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a561712f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aa561712f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a561712f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aa561712f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a561712f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aa561712f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a561712f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aa561712f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7"/>
          <p:cNvPicPr preferRelativeResize="0"/>
          <p:nvPr/>
        </p:nvPicPr>
        <p:blipFill rotWithShape="1">
          <a:blip r:embed="rId2">
            <a:alphaModFix amt="70000"/>
          </a:blip>
          <a:srcRect b="0" l="1311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7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" name="Google Shape;13;p27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7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7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17" name="Google Shape;17;p27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27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7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" name="Google Shape;20;p27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27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27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27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27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7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27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" name="Google Shape;29;p27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27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8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3" name="Google Shape;33;p28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8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" name="Google Shape;36;p28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37" name="Google Shape;37;p28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2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2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28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" name="Google Shape;41;p28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29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45" name="Google Shape;45;p2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2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30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50" name="Google Shape;50;p3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3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1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31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56" name="Google Shape;56;p31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57" name="Google Shape;57;p31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31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31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32"/>
          <p:cNvPicPr preferRelativeResize="0"/>
          <p:nvPr/>
        </p:nvPicPr>
        <p:blipFill rotWithShape="1">
          <a:blip r:embed="rId2">
            <a:alphaModFix/>
          </a:blip>
          <a:srcRect b="55478" l="0" r="16387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2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32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32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66" name="Google Shape;66;p3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" name="Google Shape;67;p32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32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" name="Google Shape;69;p32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2" name="Google Shape;72;p33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33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33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6" name="Google Shape;76;p33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77" name="Google Shape;77;p3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3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4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" name="Google Shape;81;p34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" name="Google Shape;82;p34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" name="Google Shape;83;p34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" name="Google Shape;84;p34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" name="Google Shape;85;p34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6" name="Google Shape;86;p3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" name="Google Shape;87;p34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88" name="Google Shape;88;p34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34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34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34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34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34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34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34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3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3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34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34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34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34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" name="Google Shape;102;p34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3" name="Google Shape;103;p34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4" name="Google Shape;104;p34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5" name="Google Shape;105;p34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6" name="Google Shape;106;p34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3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35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" name="Google Shape;110;p35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12" name="Google Shape;112;p3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5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5" name="Google Shape;115;p35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6" name="Google Shape;116;p35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35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8" name="Google Shape;118;p35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35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20" name="Google Shape;120;p3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35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6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6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6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7" name="Google Shape;127;p36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30" name="Google Shape;130;p3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36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36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4" name="Google Shape;134;p36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5" name="Google Shape;135;p36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6" name="Google Shape;136;p36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7" name="Google Shape;137;p36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8" name="Google Shape;138;p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7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37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52" name="Google Shape;152;p3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3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7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5" name="Google Shape;155;p37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6" name="Google Shape;156;p37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" name="Google Shape;159;p38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60" name="Google Shape;160;p38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2" name="Google Shape;162;p38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3" name="Google Shape;163;p38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64" name="Google Shape;164;p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5" name="Google Shape;165;p3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3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38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0" name="Google Shape;170;p39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1" name="Google Shape;171;p39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2" name="Google Shape;172;p39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3" name="Google Shape;173;p39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9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9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9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3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3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9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1" name="Google Shape;181;p39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2" name="Google Shape;182;p39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0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6" name="Google Shape;186;p40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7" name="Google Shape;187;p40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40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9" name="Google Shape;189;p40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0" name="Google Shape;190;p40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40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40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40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40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40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40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4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40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40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0" name="Google Shape;200;p4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40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41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" name="Google Shape;205;p41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41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7" name="Google Shape;207;p41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41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41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1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41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1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41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41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7" name="Google Shape;217;p4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41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1" name="Google Shape;221;p42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42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42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42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42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4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42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43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43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2" name="Google Shape;242;p43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3" name="Google Shape;243;p4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4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43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44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4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4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4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4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53" name="Google Shape;253;p4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4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44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0" name="Google Shape;260;p45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45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2" name="Google Shape;262;p45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3" name="Google Shape;263;p45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4" name="Google Shape;264;p45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5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45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8" name="Google Shape;268;p45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5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272" name="Google Shape;272;p46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273" name="Google Shape;273;p4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46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46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7" name="Google Shape;277;p46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6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46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46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46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3" name="Google Shape;283;p46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4" name="Google Shape;284;p46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5" name="Google Shape;285;p46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47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47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47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47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2" name="Google Shape;292;p47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47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47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4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7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7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3" name="Google Shape;303;p48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4" name="Google Shape;304;p48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8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8" name="Google Shape;308;p48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8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48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48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5" name="Google Shape;315;p48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6" name="Google Shape;316;p48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7" name="Google Shape;317;p48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4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9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22" name="Google Shape;322;p49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23" name="Google Shape;323;p49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4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49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49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49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49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4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0" name="Google Shape;330;p49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49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9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0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50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50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50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50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50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41" name="Google Shape;341;p50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50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50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5" name="Google Shape;345;p5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0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50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50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50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1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5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51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51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51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51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51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51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51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51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4" name="Google Shape;364;p51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51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2"/>
          <p:cNvPicPr preferRelativeResize="0"/>
          <p:nvPr/>
        </p:nvPicPr>
        <p:blipFill rotWithShape="1">
          <a:blip r:embed="rId2">
            <a:alphaModFix/>
          </a:blip>
          <a:srcRect b="13328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368" name="Google Shape;368;p52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369" name="Google Shape;369;p52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52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52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3" name="Google Shape;373;p52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4" name="Google Shape;374;p52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52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52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52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52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52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52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52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52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52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5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52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3"/>
          <p:cNvPicPr preferRelativeResize="0"/>
          <p:nvPr/>
        </p:nvPicPr>
        <p:blipFill rotWithShape="1">
          <a:blip r:embed="rId2">
            <a:alphaModFix/>
          </a:blip>
          <a:srcRect b="0" l="-14115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3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3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3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1" name="Google Shape;391;p53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53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53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53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5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5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53"/>
            <p:cNvCxnSpPr/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53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53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53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4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4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4" name="Google Shape;404;p54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5" name="Google Shape;405;p5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4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54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8" name="Google Shape;408;p54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09" name="Google Shape;409;p54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54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54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54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54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54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54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5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5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54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1" name="Google Shape;421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40" name="Google Shape;440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1" name="Google Shape;441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6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6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6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6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6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6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8" name="Google Shape;458;p6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6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2" name="Google Shape;462;p6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6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6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6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6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6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0" name="Google Shape;470;p6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7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7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7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7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80" name="Google Shape;480;p7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7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7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7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7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9" name="Google Shape;489;p7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7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7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2" name="Google Shape;49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7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7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7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7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7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7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7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2" name="Google Shape;50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3" name="Google Shape;503;p7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7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7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7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7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7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7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7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7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7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7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7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AlaTooMirlanNurbekov/A003_Architecture_of_Computing_Systems/blob/main/0002_codes/0007.ino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1" title="Algorithms-programs-and-programming-languages-Source-shutterstockco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09" r="16900" t="0"/>
          <a:stretch/>
        </p:blipFill>
        <p:spPr>
          <a:xfrm>
            <a:off x="5959150" y="2579575"/>
            <a:ext cx="1792975" cy="17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"/>
          <p:cNvSpPr txBox="1"/>
          <p:nvPr>
            <p:ph type="title"/>
          </p:nvPr>
        </p:nvSpPr>
        <p:spPr>
          <a:xfrm>
            <a:off x="0" y="189375"/>
            <a:ext cx="6591300" cy="29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4400"/>
              <a:t>ARCHITECTURE OF ELECTRONIC COMPUTING MACHINE &amp; COMPUTING SYSTEMS</a:t>
            </a:r>
            <a:endParaRPr sz="4400"/>
          </a:p>
        </p:txBody>
      </p:sp>
      <p:sp>
        <p:nvSpPr>
          <p:cNvPr id="525" name="Google Shape;525;p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6" name="Google Shape;526;p1" title="PI_2017.02.08_Algorithms_featured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3868" l="25383" r="42468" t="0"/>
          <a:stretch/>
        </p:blipFill>
        <p:spPr>
          <a:xfrm>
            <a:off x="7752125" y="3861475"/>
            <a:ext cx="1171475" cy="12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"/>
          <p:cNvSpPr txBox="1"/>
          <p:nvPr>
            <p:ph idx="1" type="subTitle"/>
          </p:nvPr>
        </p:nvSpPr>
        <p:spPr>
          <a:xfrm>
            <a:off x="128875" y="3861475"/>
            <a:ext cx="52440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&amp; Presented by: Mirlan Nurbekov, Lecturer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Office hours: Friday 9:00–17:00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AlaToo IT &amp; Business College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1" title="College_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950" y="892900"/>
            <a:ext cx="1502350" cy="15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bcda7db66_0_121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g39bcda7db66_0_121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IR remote control &amp; IR sensors</a:t>
            </a:r>
            <a:endParaRPr sz="3600"/>
          </a:p>
        </p:txBody>
      </p:sp>
      <p:pic>
        <p:nvPicPr>
          <p:cNvPr id="535" name="Google Shape;535;g39bcda7db66_0_1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375" y="1290650"/>
            <a:ext cx="3714840" cy="369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39bcda7db66_0_12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150" y="1673925"/>
            <a:ext cx="2096050" cy="21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2fbfe97f0_0_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g3a2fbfe97f0_0_1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What is infrared light (IR)?</a:t>
            </a:r>
            <a:endParaRPr sz="3600"/>
          </a:p>
        </p:txBody>
      </p:sp>
      <p:sp>
        <p:nvSpPr>
          <p:cNvPr id="543" name="Google Shape;543;g3a2fbfe97f0_0_1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IR = light that is invisible to human eyes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Wavelength range: 700 nm – 1 mm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Common uses: TVs, AC units, cameras, sensors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Works through line-of-sight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2fbfe97f0_0_1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g3a2fbfe97f0_0_13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IR in everyday devices</a:t>
            </a:r>
            <a:endParaRPr sz="3600"/>
          </a:p>
        </p:txBody>
      </p:sp>
      <p:pic>
        <p:nvPicPr>
          <p:cNvPr id="550" name="Google Shape;550;g3a2fbfe97f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150" y="1343750"/>
            <a:ext cx="5540989" cy="36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2fbfe97f0_0_1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g3a2fbfe97f0_0_19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How an IR remote works?</a:t>
            </a:r>
            <a:endParaRPr sz="3600"/>
          </a:p>
        </p:txBody>
      </p:sp>
      <p:sp>
        <p:nvSpPr>
          <p:cNvPr id="557" name="Google Shape;557;g3a2fbfe97f0_0_19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Remote has an IR LED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Button press </a:t>
            </a:r>
            <a:r>
              <a:rPr lang="en" sz="2500"/>
              <a:t>–&gt;</a:t>
            </a:r>
            <a:r>
              <a:rPr lang="en" sz="2500"/>
              <a:t>LED sends pulse sequence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Pulses represent digital data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Receiver converts pulses into a command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2fbfe97f0_0_2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g3a2fbfe97f0_0_25"/>
          <p:cNvSpPr txBox="1"/>
          <p:nvPr>
            <p:ph type="title"/>
          </p:nvPr>
        </p:nvSpPr>
        <p:spPr>
          <a:xfrm>
            <a:off x="284550" y="-68250"/>
            <a:ext cx="88029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Characteristics of IR communication</a:t>
            </a:r>
            <a:endParaRPr sz="3600"/>
          </a:p>
        </p:txBody>
      </p:sp>
      <p:sp>
        <p:nvSpPr>
          <p:cNvPr id="564" name="Google Shape;564;g3a2fbfe97f0_0_25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Short range (5–10 m)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Line-of-sight required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One-way communication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Inexpensive and reliable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2fbfe97f0_0_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g3a2fbfe97f0_0_31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IR communication protocols</a:t>
            </a:r>
            <a:endParaRPr sz="3600"/>
          </a:p>
        </p:txBody>
      </p:sp>
      <p:sp>
        <p:nvSpPr>
          <p:cNvPr id="571" name="Google Shape;571;g3a2fbfe97f0_0_31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NEC (Nippon Electric Company)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Sony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RC5 / RC6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Custom protocols used in appliances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2fbfe97f0_0_4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g3a2fbfe97f0_0_47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NEC protocol </a:t>
            </a:r>
            <a:endParaRPr sz="3600"/>
          </a:p>
        </p:txBody>
      </p:sp>
      <p:sp>
        <p:nvSpPr>
          <p:cNvPr id="578" name="Google Shape;578;g3a2fbfe97f0_0_47"/>
          <p:cNvSpPr txBox="1"/>
          <p:nvPr>
            <p:ph idx="4294967295" type="title"/>
          </p:nvPr>
        </p:nvSpPr>
        <p:spPr>
          <a:xfrm>
            <a:off x="284550" y="17278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32-bit data structure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Contains address + command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Uses pulse distance encoding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Has a repeat code when button is held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2fbfe97f0_0_5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g3a2fbfe97f0_0_53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VS1838B IR receiver</a:t>
            </a:r>
            <a:endParaRPr sz="3600"/>
          </a:p>
        </p:txBody>
      </p:sp>
      <p:sp>
        <p:nvSpPr>
          <p:cNvPr id="585" name="Google Shape;585;g3a2fbfe97f0_0_53"/>
          <p:cNvSpPr txBox="1"/>
          <p:nvPr>
            <p:ph idx="4294967295" type="title"/>
          </p:nvPr>
        </p:nvSpPr>
        <p:spPr>
          <a:xfrm>
            <a:off x="284550" y="1727825"/>
            <a:ext cx="49272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3 pins: output, ground, VCC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Works at 38 kHz</a:t>
            </a:r>
            <a:br>
              <a:rPr lang="en" sz="2500"/>
            </a:b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Filters noise and modulated signals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500"/>
          </a:p>
        </p:txBody>
      </p:sp>
      <p:pic>
        <p:nvPicPr>
          <p:cNvPr id="586" name="Google Shape;586;g3a2fbfe97f0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325" y="1727825"/>
            <a:ext cx="2474100" cy="25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a2fbfe97f0_0_10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2" name="Google Shape;592;g3a2fbfe97f0_0_101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VS1838B IR receiver</a:t>
            </a:r>
            <a:endParaRPr sz="3600"/>
          </a:p>
        </p:txBody>
      </p:sp>
      <p:pic>
        <p:nvPicPr>
          <p:cNvPr id="593" name="Google Shape;593;g3a2fbfe97f0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8550"/>
            <a:ext cx="3692550" cy="36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a2fbfe97f0_0_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000" y="1298550"/>
            <a:ext cx="3692550" cy="36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a561712f8_0_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0" name="Google Shape;600;g3aa561712f8_0_8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VS1838B IR receiver</a:t>
            </a:r>
            <a:endParaRPr sz="3600"/>
          </a:p>
        </p:txBody>
      </p:sp>
      <p:pic>
        <p:nvPicPr>
          <p:cNvPr id="601" name="Google Shape;601;g3aa561712f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8488" y="1290650"/>
            <a:ext cx="286702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a561712f8_0_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g3aa561712f8_0_0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The VS1838B IR receiver</a:t>
            </a:r>
            <a:endParaRPr sz="3600"/>
          </a:p>
        </p:txBody>
      </p:sp>
      <p:pic>
        <p:nvPicPr>
          <p:cNvPr id="608" name="Google Shape;608;g3aa561712f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250" y="1290650"/>
            <a:ext cx="4142125" cy="37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2fbfe97f0_0_6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g3a2fbfe97f0_0_65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Remote controlling unit</a:t>
            </a:r>
            <a:endParaRPr sz="3600"/>
          </a:p>
        </p:txBody>
      </p:sp>
      <p:pic>
        <p:nvPicPr>
          <p:cNvPr id="615" name="Google Shape;615;g3a2fbfe97f0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300" y="1476375"/>
            <a:ext cx="3330525" cy="33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2fbfe97f0_0_5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g3a2fbfe97f0_0_59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Installing the IRremote library</a:t>
            </a:r>
            <a:endParaRPr sz="3600"/>
          </a:p>
        </p:txBody>
      </p:sp>
      <p:sp>
        <p:nvSpPr>
          <p:cNvPr id="622" name="Google Shape;622;g3a2fbfe97f0_0_59"/>
          <p:cNvSpPr txBox="1"/>
          <p:nvPr>
            <p:ph idx="4294967295" type="title"/>
          </p:nvPr>
        </p:nvSpPr>
        <p:spPr>
          <a:xfrm>
            <a:off x="284550" y="1381625"/>
            <a:ext cx="8701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1. </a:t>
            </a:r>
            <a:r>
              <a:rPr lang="en" sz="2500"/>
              <a:t>Open Arduino IDE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2. Sketch → Include library → Manage libraries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3. Search “IRremote”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4. Install by Armin Joachimsmeyer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5. Include: #include &lt;IRremote.hpp&gt;</a:t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a561712f8_0_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g3aa561712f8_0_1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How it works?</a:t>
            </a:r>
            <a:endParaRPr sz="3600"/>
          </a:p>
        </p:txBody>
      </p:sp>
      <p:sp>
        <p:nvSpPr>
          <p:cNvPr id="629" name="Google Shape;629;g3aa561712f8_0_16"/>
          <p:cNvSpPr txBox="1"/>
          <p:nvPr>
            <p:ph idx="4294967295" type="title"/>
          </p:nvPr>
        </p:nvSpPr>
        <p:spPr>
          <a:xfrm>
            <a:off x="284550" y="1381625"/>
            <a:ext cx="8701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Each button sends a unique code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Code has: protocol, address, command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Sensor converts IR light → electrical pulse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630" name="Google Shape;630;g3aa561712f8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137" y="3258797"/>
            <a:ext cx="2653425" cy="180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aa561712f8_0_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g3aa561712f8_0_24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Wiring IR sensor to Arduino</a:t>
            </a:r>
            <a:endParaRPr sz="3600"/>
          </a:p>
        </p:txBody>
      </p:sp>
      <p:sp>
        <p:nvSpPr>
          <p:cNvPr id="637" name="Google Shape;637;g3aa561712f8_0_24"/>
          <p:cNvSpPr txBox="1"/>
          <p:nvPr>
            <p:ph idx="4294967295" type="title"/>
          </p:nvPr>
        </p:nvSpPr>
        <p:spPr>
          <a:xfrm>
            <a:off x="284550" y="1381625"/>
            <a:ext cx="8701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OUT → D2 (recommended)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GND → GND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VCC → 5V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638" name="Google Shape;638;g3aa561712f8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675" y="1900450"/>
            <a:ext cx="4233875" cy="28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2fbfe97f0_0_7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4" name="Google Shape;644;g3a2fbfe97f0_0_77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GAME PART 1</a:t>
            </a:r>
            <a:endParaRPr sz="3600"/>
          </a:p>
        </p:txBody>
      </p:sp>
      <p:pic>
        <p:nvPicPr>
          <p:cNvPr id="645" name="Google Shape;645;g3a2fbfe97f0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5275" y="1219175"/>
            <a:ext cx="4233451" cy="36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a2fbfe97f0_0_8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1" name="Google Shape;651;g3a2fbfe97f0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3550" y="1146150"/>
            <a:ext cx="4178224" cy="369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a2fbfe97f0_0_83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GAME PART 2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a561712f8_0_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g3aa561712f8_0_66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What values Arduino reads?</a:t>
            </a:r>
            <a:endParaRPr sz="3600"/>
          </a:p>
        </p:txBody>
      </p:sp>
      <p:sp>
        <p:nvSpPr>
          <p:cNvPr id="659" name="Google Shape;659;g3aa561712f8_0_66"/>
          <p:cNvSpPr txBox="1"/>
          <p:nvPr>
            <p:ph idx="4294967295" type="title"/>
          </p:nvPr>
        </p:nvSpPr>
        <p:spPr>
          <a:xfrm>
            <a:off x="284550" y="1381625"/>
            <a:ext cx="8701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Protocol – encoding type (NEC, Sony, etc.)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Address – device group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Command – actual button number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Repeat = 0x0 when button held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a561712f8_0_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g3aa561712f8_0_76"/>
          <p:cNvSpPr txBox="1"/>
          <p:nvPr>
            <p:ph type="title"/>
          </p:nvPr>
        </p:nvSpPr>
        <p:spPr>
          <a:xfrm>
            <a:off x="284550" y="-68250"/>
            <a:ext cx="83415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How to test your remote codes?</a:t>
            </a:r>
            <a:endParaRPr sz="3600"/>
          </a:p>
        </p:txBody>
      </p:sp>
      <p:sp>
        <p:nvSpPr>
          <p:cNvPr id="666" name="Google Shape;666;g3aa561712f8_0_76"/>
          <p:cNvSpPr txBox="1"/>
          <p:nvPr>
            <p:ph idx="4294967295" type="title"/>
          </p:nvPr>
        </p:nvSpPr>
        <p:spPr>
          <a:xfrm>
            <a:off x="284550" y="1381625"/>
            <a:ext cx="8701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Open Serial Monitor (9600 baud)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Point remote to sensor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Press each button one time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Write down each command value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 these values in your project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a561712f8_0_4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g3aa561712f8_0_43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Full code sample</a:t>
            </a:r>
            <a:endParaRPr sz="3600"/>
          </a:p>
        </p:txBody>
      </p:sp>
      <p:sp>
        <p:nvSpPr>
          <p:cNvPr id="673" name="Google Shape;673;g3aa561712f8_0_43"/>
          <p:cNvSpPr txBox="1"/>
          <p:nvPr>
            <p:ph idx="4294967295" type="title"/>
          </p:nvPr>
        </p:nvSpPr>
        <p:spPr>
          <a:xfrm>
            <a:off x="221250" y="2506750"/>
            <a:ext cx="87015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hlinkClick r:id="rId3"/>
              </a:rPr>
              <a:t>https://github.com/AlaTooMirlanNurbekov/A003_Architecture_of_Computing_Systems/blob/main/0002_codes/0007.ino</a:t>
            </a:r>
            <a:r>
              <a:rPr lang="en" sz="2500"/>
              <a:t> 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aa561712f8_0_5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g3aa561712f8_0_51"/>
          <p:cNvSpPr txBox="1"/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Self test</a:t>
            </a:r>
            <a:endParaRPr sz="3600"/>
          </a:p>
        </p:txBody>
      </p:sp>
      <p:sp>
        <p:nvSpPr>
          <p:cNvPr id="680" name="Google Shape;680;g3aa561712f8_0_51"/>
          <p:cNvSpPr txBox="1"/>
          <p:nvPr>
            <p:ph idx="4294967295" type="title"/>
          </p:nvPr>
        </p:nvSpPr>
        <p:spPr>
          <a:xfrm>
            <a:off x="284550" y="1381625"/>
            <a:ext cx="87015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1. What is infrared (IR) light and why is it invisible to human eyes?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2. What conditions are required for IR communication to work properly?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3. What does an IR remote send when a button is pressed, and how does the receiver interpret it?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4. What makes the VS1838B suitable for Arduino projects? (mention two features)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5. How do you wire the VS1838B sensor to an Arduino UNO?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